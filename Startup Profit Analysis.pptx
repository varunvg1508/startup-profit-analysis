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FB6F30-EE1A-400B-BA58-C0AA5B9BCC4C}" v="24" dt="2026-06-28T16:59:19.2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un gokral" userId="cf35d847bb7413c9" providerId="LiveId" clId="{33446CBD-BBA0-47B0-924C-D64D84D64257}"/>
    <pc:docChg chg="custSel addSld delSld modSld sldOrd">
      <pc:chgData name="varun gokral" userId="cf35d847bb7413c9" providerId="LiveId" clId="{33446CBD-BBA0-47B0-924C-D64D84D64257}" dt="2026-06-29T13:42:35.945" v="434" actId="20577"/>
      <pc:docMkLst>
        <pc:docMk/>
      </pc:docMkLst>
      <pc:sldChg chg="addSp delSp modSp mod">
        <pc:chgData name="varun gokral" userId="cf35d847bb7413c9" providerId="LiveId" clId="{33446CBD-BBA0-47B0-924C-D64D84D64257}" dt="2026-06-28T15:31:07.409" v="52" actId="2711"/>
        <pc:sldMkLst>
          <pc:docMk/>
          <pc:sldMk cId="3152446510" sldId="256"/>
        </pc:sldMkLst>
        <pc:spChg chg="mod">
          <ac:chgData name="varun gokral" userId="cf35d847bb7413c9" providerId="LiveId" clId="{33446CBD-BBA0-47B0-924C-D64D84D64257}" dt="2026-06-28T15:31:07.409" v="52" actId="2711"/>
          <ac:spMkLst>
            <pc:docMk/>
            <pc:sldMk cId="3152446510" sldId="256"/>
            <ac:spMk id="2" creationId="{0A43962A-BB42-575E-3CF2-81F3F095603E}"/>
          </ac:spMkLst>
        </pc:spChg>
        <pc:spChg chg="del mod">
          <ac:chgData name="varun gokral" userId="cf35d847bb7413c9" providerId="LiveId" clId="{33446CBD-BBA0-47B0-924C-D64D84D64257}" dt="2026-06-28T15:23:59.264" v="2"/>
          <ac:spMkLst>
            <pc:docMk/>
            <pc:sldMk cId="3152446510" sldId="256"/>
            <ac:spMk id="3" creationId="{C761FA1B-EFF0-A6EA-407E-5AD4FF7F8870}"/>
          </ac:spMkLst>
        </pc:spChg>
        <pc:spChg chg="add mod">
          <ac:chgData name="varun gokral" userId="cf35d847bb7413c9" providerId="LiveId" clId="{33446CBD-BBA0-47B0-924C-D64D84D64257}" dt="2026-06-28T15:28:25.134" v="38" actId="20577"/>
          <ac:spMkLst>
            <pc:docMk/>
            <pc:sldMk cId="3152446510" sldId="256"/>
            <ac:spMk id="4" creationId="{DF8E3B55-8B2C-B443-45B4-13A0080C6C76}"/>
          </ac:spMkLst>
        </pc:spChg>
      </pc:sldChg>
      <pc:sldChg chg="modSp new mod">
        <pc:chgData name="varun gokral" userId="cf35d847bb7413c9" providerId="LiveId" clId="{33446CBD-BBA0-47B0-924C-D64D84D64257}" dt="2026-06-29T13:42:35.945" v="434" actId="20577"/>
        <pc:sldMkLst>
          <pc:docMk/>
          <pc:sldMk cId="2260598886" sldId="257"/>
        </pc:sldMkLst>
        <pc:spChg chg="mod">
          <ac:chgData name="varun gokral" userId="cf35d847bb7413c9" providerId="LiveId" clId="{33446CBD-BBA0-47B0-924C-D64D84D64257}" dt="2026-06-28T15:41:03.278" v="134" actId="14100"/>
          <ac:spMkLst>
            <pc:docMk/>
            <pc:sldMk cId="2260598886" sldId="257"/>
            <ac:spMk id="2" creationId="{4A5AE49B-5984-1515-5F66-254448DE4AFF}"/>
          </ac:spMkLst>
        </pc:spChg>
        <pc:spChg chg="mod">
          <ac:chgData name="varun gokral" userId="cf35d847bb7413c9" providerId="LiveId" clId="{33446CBD-BBA0-47B0-924C-D64D84D64257}" dt="2026-06-29T13:42:35.945" v="434" actId="20577"/>
          <ac:spMkLst>
            <pc:docMk/>
            <pc:sldMk cId="2260598886" sldId="257"/>
            <ac:spMk id="3" creationId="{68DF4B3B-81EA-5091-BCB6-4D518DA1E870}"/>
          </ac:spMkLst>
        </pc:spChg>
      </pc:sldChg>
      <pc:sldChg chg="modSp add mod">
        <pc:chgData name="varun gokral" userId="cf35d847bb7413c9" providerId="LiveId" clId="{33446CBD-BBA0-47B0-924C-D64D84D64257}" dt="2026-06-28T15:41:58.002" v="153" actId="113"/>
        <pc:sldMkLst>
          <pc:docMk/>
          <pc:sldMk cId="2368864220" sldId="258"/>
        </pc:sldMkLst>
        <pc:spChg chg="mod">
          <ac:chgData name="varun gokral" userId="cf35d847bb7413c9" providerId="LiveId" clId="{33446CBD-BBA0-47B0-924C-D64D84D64257}" dt="2026-06-28T15:41:08.237" v="135" actId="14100"/>
          <ac:spMkLst>
            <pc:docMk/>
            <pc:sldMk cId="2368864220" sldId="258"/>
            <ac:spMk id="2" creationId="{57DFB3B1-E9A9-6DAA-2867-5FD688A43C2B}"/>
          </ac:spMkLst>
        </pc:spChg>
        <pc:spChg chg="mod">
          <ac:chgData name="varun gokral" userId="cf35d847bb7413c9" providerId="LiveId" clId="{33446CBD-BBA0-47B0-924C-D64D84D64257}" dt="2026-06-28T15:41:58.002" v="153" actId="113"/>
          <ac:spMkLst>
            <pc:docMk/>
            <pc:sldMk cId="2368864220" sldId="258"/>
            <ac:spMk id="3" creationId="{DA8AC38F-91D9-811F-F854-3670755A8415}"/>
          </ac:spMkLst>
        </pc:spChg>
      </pc:sldChg>
      <pc:sldChg chg="modSp new del mod">
        <pc:chgData name="varun gokral" userId="cf35d847bb7413c9" providerId="LiveId" clId="{33446CBD-BBA0-47B0-924C-D64D84D64257}" dt="2026-06-28T15:38:10.982" v="98" actId="2696"/>
        <pc:sldMkLst>
          <pc:docMk/>
          <pc:sldMk cId="4012542952" sldId="258"/>
        </pc:sldMkLst>
        <pc:spChg chg="mod">
          <ac:chgData name="varun gokral" userId="cf35d847bb7413c9" providerId="LiveId" clId="{33446CBD-BBA0-47B0-924C-D64D84D64257}" dt="2026-06-28T15:37:58.669" v="97" actId="1076"/>
          <ac:spMkLst>
            <pc:docMk/>
            <pc:sldMk cId="4012542952" sldId="258"/>
            <ac:spMk id="2" creationId="{E60C72C0-D21B-F63D-238A-5936988E5BFD}"/>
          </ac:spMkLst>
        </pc:spChg>
      </pc:sldChg>
      <pc:sldChg chg="modSp add mod">
        <pc:chgData name="varun gokral" userId="cf35d847bb7413c9" providerId="LiveId" clId="{33446CBD-BBA0-47B0-924C-D64D84D64257}" dt="2026-06-28T15:47:44.489" v="214" actId="27636"/>
        <pc:sldMkLst>
          <pc:docMk/>
          <pc:sldMk cId="2403415210" sldId="259"/>
        </pc:sldMkLst>
        <pc:spChg chg="mod">
          <ac:chgData name="varun gokral" userId="cf35d847bb7413c9" providerId="LiveId" clId="{33446CBD-BBA0-47B0-924C-D64D84D64257}" dt="2026-06-28T15:45:05.218" v="157"/>
          <ac:spMkLst>
            <pc:docMk/>
            <pc:sldMk cId="2403415210" sldId="259"/>
            <ac:spMk id="2" creationId="{0A3ECD1E-9F4E-3F11-6551-B1FBAB9388C9}"/>
          </ac:spMkLst>
        </pc:spChg>
        <pc:spChg chg="mod">
          <ac:chgData name="varun gokral" userId="cf35d847bb7413c9" providerId="LiveId" clId="{33446CBD-BBA0-47B0-924C-D64D84D64257}" dt="2026-06-28T15:47:44.489" v="214" actId="27636"/>
          <ac:spMkLst>
            <pc:docMk/>
            <pc:sldMk cId="2403415210" sldId="259"/>
            <ac:spMk id="3" creationId="{927A0B02-294C-9DDD-4317-BEFF0210F5E7}"/>
          </ac:spMkLst>
        </pc:spChg>
      </pc:sldChg>
      <pc:sldChg chg="addSp modSp add mod">
        <pc:chgData name="varun gokral" userId="cf35d847bb7413c9" providerId="LiveId" clId="{33446CBD-BBA0-47B0-924C-D64D84D64257}" dt="2026-06-28T16:20:49.852" v="272" actId="1076"/>
        <pc:sldMkLst>
          <pc:docMk/>
          <pc:sldMk cId="2296702340" sldId="260"/>
        </pc:sldMkLst>
        <pc:spChg chg="mod">
          <ac:chgData name="varun gokral" userId="cf35d847bb7413c9" providerId="LiveId" clId="{33446CBD-BBA0-47B0-924C-D64D84D64257}" dt="2026-06-28T15:54:53.595" v="216"/>
          <ac:spMkLst>
            <pc:docMk/>
            <pc:sldMk cId="2296702340" sldId="260"/>
            <ac:spMk id="2" creationId="{AF73D7B4-40E2-438C-6E62-FDF499308389}"/>
          </ac:spMkLst>
        </pc:spChg>
        <pc:spChg chg="mod">
          <ac:chgData name="varun gokral" userId="cf35d847bb7413c9" providerId="LiveId" clId="{33446CBD-BBA0-47B0-924C-D64D84D64257}" dt="2026-06-28T15:58:16.219" v="258" actId="113"/>
          <ac:spMkLst>
            <pc:docMk/>
            <pc:sldMk cId="2296702340" sldId="260"/>
            <ac:spMk id="3" creationId="{75CF627E-8A5F-E5D6-EE24-B4134B58F300}"/>
          </ac:spMkLst>
        </pc:spChg>
        <pc:picChg chg="add mod">
          <ac:chgData name="varun gokral" userId="cf35d847bb7413c9" providerId="LiveId" clId="{33446CBD-BBA0-47B0-924C-D64D84D64257}" dt="2026-06-28T16:20:02.597" v="265" actId="1076"/>
          <ac:picMkLst>
            <pc:docMk/>
            <pc:sldMk cId="2296702340" sldId="260"/>
            <ac:picMk id="5" creationId="{9B46B97E-1C46-9A9F-79FC-06B44447E5B2}"/>
          </ac:picMkLst>
        </pc:picChg>
        <pc:picChg chg="add mod">
          <ac:chgData name="varun gokral" userId="cf35d847bb7413c9" providerId="LiveId" clId="{33446CBD-BBA0-47B0-924C-D64D84D64257}" dt="2026-06-28T16:20:49.852" v="272" actId="1076"/>
          <ac:picMkLst>
            <pc:docMk/>
            <pc:sldMk cId="2296702340" sldId="260"/>
            <ac:picMk id="7" creationId="{687CBD2C-BD38-F58E-0423-C4EE086B87DA}"/>
          </ac:picMkLst>
        </pc:picChg>
      </pc:sldChg>
      <pc:sldChg chg="addSp delSp modSp add mod">
        <pc:chgData name="varun gokral" userId="cf35d847bb7413c9" providerId="LiveId" clId="{33446CBD-BBA0-47B0-924C-D64D84D64257}" dt="2026-06-28T16:30:59.485" v="284" actId="14100"/>
        <pc:sldMkLst>
          <pc:docMk/>
          <pc:sldMk cId="254206791" sldId="261"/>
        </pc:sldMkLst>
        <pc:spChg chg="del">
          <ac:chgData name="varun gokral" userId="cf35d847bb7413c9" providerId="LiveId" clId="{33446CBD-BBA0-47B0-924C-D64D84D64257}" dt="2026-06-28T16:23:38.109" v="274" actId="21"/>
          <ac:spMkLst>
            <pc:docMk/>
            <pc:sldMk cId="254206791" sldId="261"/>
            <ac:spMk id="2" creationId="{4FA7001D-4DC4-0E54-A282-050EAAC0486B}"/>
          </ac:spMkLst>
        </pc:spChg>
        <pc:spChg chg="del">
          <ac:chgData name="varun gokral" userId="cf35d847bb7413c9" providerId="LiveId" clId="{33446CBD-BBA0-47B0-924C-D64D84D64257}" dt="2026-06-28T16:23:46.452" v="276" actId="21"/>
          <ac:spMkLst>
            <pc:docMk/>
            <pc:sldMk cId="254206791" sldId="261"/>
            <ac:spMk id="3" creationId="{1783E989-CA7D-8FAF-6A6D-B58DF16C7410}"/>
          </ac:spMkLst>
        </pc:spChg>
        <pc:spChg chg="add del mod">
          <ac:chgData name="varun gokral" userId="cf35d847bb7413c9" providerId="LiveId" clId="{33446CBD-BBA0-47B0-924C-D64D84D64257}" dt="2026-06-28T16:23:41.911" v="275" actId="21"/>
          <ac:spMkLst>
            <pc:docMk/>
            <pc:sldMk cId="254206791" sldId="261"/>
            <ac:spMk id="6" creationId="{E8313931-66EF-3188-AE4F-03FB974072F8}"/>
          </ac:spMkLst>
        </pc:spChg>
        <pc:spChg chg="add del mod">
          <ac:chgData name="varun gokral" userId="cf35d847bb7413c9" providerId="LiveId" clId="{33446CBD-BBA0-47B0-924C-D64D84D64257}" dt="2026-06-28T16:23:51.980" v="278" actId="21"/>
          <ac:spMkLst>
            <pc:docMk/>
            <pc:sldMk cId="254206791" sldId="261"/>
            <ac:spMk id="9" creationId="{06C57675-116B-94F6-5F82-7B1F9569D8F4}"/>
          </ac:spMkLst>
        </pc:spChg>
        <pc:picChg chg="del">
          <ac:chgData name="varun gokral" userId="cf35d847bb7413c9" providerId="LiveId" clId="{33446CBD-BBA0-47B0-924C-D64D84D64257}" dt="2026-06-28T16:23:49.755" v="277" actId="21"/>
          <ac:picMkLst>
            <pc:docMk/>
            <pc:sldMk cId="254206791" sldId="261"/>
            <ac:picMk id="5" creationId="{541DE0CC-1D74-1862-A401-0BE95CFA932C}"/>
          </ac:picMkLst>
        </pc:picChg>
        <pc:picChg chg="del">
          <ac:chgData name="varun gokral" userId="cf35d847bb7413c9" providerId="LiveId" clId="{33446CBD-BBA0-47B0-924C-D64D84D64257}" dt="2026-06-28T16:23:59.657" v="279" actId="21"/>
          <ac:picMkLst>
            <pc:docMk/>
            <pc:sldMk cId="254206791" sldId="261"/>
            <ac:picMk id="7" creationId="{9CAB7CDC-E39F-7025-16E3-665CE96A8EFB}"/>
          </ac:picMkLst>
        </pc:picChg>
        <pc:picChg chg="add mod">
          <ac:chgData name="varun gokral" userId="cf35d847bb7413c9" providerId="LiveId" clId="{33446CBD-BBA0-47B0-924C-D64D84D64257}" dt="2026-06-28T16:30:59.485" v="284" actId="14100"/>
          <ac:picMkLst>
            <pc:docMk/>
            <pc:sldMk cId="254206791" sldId="261"/>
            <ac:picMk id="11" creationId="{65EB0517-B7C6-23EB-7DEF-90095F1A2027}"/>
          </ac:picMkLst>
        </pc:picChg>
      </pc:sldChg>
      <pc:sldChg chg="delSp modSp add mod ord">
        <pc:chgData name="varun gokral" userId="cf35d847bb7413c9" providerId="LiveId" clId="{33446CBD-BBA0-47B0-924C-D64D84D64257}" dt="2026-06-28T17:02:40.754" v="421" actId="113"/>
        <pc:sldMkLst>
          <pc:docMk/>
          <pc:sldMk cId="1538497921" sldId="262"/>
        </pc:sldMkLst>
        <pc:spChg chg="mod">
          <ac:chgData name="varun gokral" userId="cf35d847bb7413c9" providerId="LiveId" clId="{33446CBD-BBA0-47B0-924C-D64D84D64257}" dt="2026-06-28T16:34:12.762" v="288"/>
          <ac:spMkLst>
            <pc:docMk/>
            <pc:sldMk cId="1538497921" sldId="262"/>
            <ac:spMk id="2" creationId="{7E0B8947-F94D-A231-CC0D-C54E198B35E7}"/>
          </ac:spMkLst>
        </pc:spChg>
        <pc:spChg chg="mod">
          <ac:chgData name="varun gokral" userId="cf35d847bb7413c9" providerId="LiveId" clId="{33446CBD-BBA0-47B0-924C-D64D84D64257}" dt="2026-06-28T17:02:40.754" v="421" actId="113"/>
          <ac:spMkLst>
            <pc:docMk/>
            <pc:sldMk cId="1538497921" sldId="262"/>
            <ac:spMk id="3" creationId="{0D9089D0-7DA9-F949-6901-6F0BACA1A0AB}"/>
          </ac:spMkLst>
        </pc:spChg>
        <pc:picChg chg="del">
          <ac:chgData name="varun gokral" userId="cf35d847bb7413c9" providerId="LiveId" clId="{33446CBD-BBA0-47B0-924C-D64D84D64257}" dt="2026-06-28T16:34:26.378" v="291" actId="21"/>
          <ac:picMkLst>
            <pc:docMk/>
            <pc:sldMk cId="1538497921" sldId="262"/>
            <ac:picMk id="5" creationId="{B841268A-1653-E1AA-0A63-77BFA35D2CE6}"/>
          </ac:picMkLst>
        </pc:picChg>
        <pc:picChg chg="del">
          <ac:chgData name="varun gokral" userId="cf35d847bb7413c9" providerId="LiveId" clId="{33446CBD-BBA0-47B0-924C-D64D84D64257}" dt="2026-06-28T16:34:28.351" v="292" actId="21"/>
          <ac:picMkLst>
            <pc:docMk/>
            <pc:sldMk cId="1538497921" sldId="262"/>
            <ac:picMk id="7" creationId="{1AE53C49-2341-9A69-CB9F-253590DAEDB2}"/>
          </ac:picMkLst>
        </pc:picChg>
      </pc:sldChg>
      <pc:sldChg chg="addSp modSp add mod">
        <pc:chgData name="varun gokral" userId="cf35d847bb7413c9" providerId="LiveId" clId="{33446CBD-BBA0-47B0-924C-D64D84D64257}" dt="2026-06-28T16:58:40.130" v="406" actId="122"/>
        <pc:sldMkLst>
          <pc:docMk/>
          <pc:sldMk cId="371162" sldId="263"/>
        </pc:sldMkLst>
        <pc:spChg chg="mod">
          <ac:chgData name="varun gokral" userId="cf35d847bb7413c9" providerId="LiveId" clId="{33446CBD-BBA0-47B0-924C-D64D84D64257}" dt="2026-06-28T16:58:40.130" v="406" actId="122"/>
          <ac:spMkLst>
            <pc:docMk/>
            <pc:sldMk cId="371162" sldId="263"/>
            <ac:spMk id="2" creationId="{2062C846-5FB2-912A-D1E7-63DEE9CF09BB}"/>
          </ac:spMkLst>
        </pc:spChg>
        <pc:spChg chg="mod">
          <ac:chgData name="varun gokral" userId="cf35d847bb7413c9" providerId="LiveId" clId="{33446CBD-BBA0-47B0-924C-D64D84D64257}" dt="2026-06-28T16:52:26.319" v="401" actId="20577"/>
          <ac:spMkLst>
            <pc:docMk/>
            <pc:sldMk cId="371162" sldId="263"/>
            <ac:spMk id="3" creationId="{45B520A4-EE70-F090-C106-404645C3450E}"/>
          </ac:spMkLst>
        </pc:spChg>
        <pc:picChg chg="add mod">
          <ac:chgData name="varun gokral" userId="cf35d847bb7413c9" providerId="LiveId" clId="{33446CBD-BBA0-47B0-924C-D64D84D64257}" dt="2026-06-28T16:50:54.527" v="392" actId="1076"/>
          <ac:picMkLst>
            <pc:docMk/>
            <pc:sldMk cId="371162" sldId="263"/>
            <ac:picMk id="5" creationId="{8D87C4CB-24B2-FEEB-4740-94D704612CFC}"/>
          </ac:picMkLst>
        </pc:picChg>
        <pc:picChg chg="add mod">
          <ac:chgData name="varun gokral" userId="cf35d847bb7413c9" providerId="LiveId" clId="{33446CBD-BBA0-47B0-924C-D64D84D64257}" dt="2026-06-28T16:51:08.142" v="395" actId="1076"/>
          <ac:picMkLst>
            <pc:docMk/>
            <pc:sldMk cId="371162" sldId="263"/>
            <ac:picMk id="7" creationId="{A66EAD89-A122-D464-3A68-34C4B829BE08}"/>
          </ac:picMkLst>
        </pc:picChg>
        <pc:picChg chg="add mod">
          <ac:chgData name="varun gokral" userId="cf35d847bb7413c9" providerId="LiveId" clId="{33446CBD-BBA0-47B0-924C-D64D84D64257}" dt="2026-06-28T16:51:31.519" v="400" actId="1076"/>
          <ac:picMkLst>
            <pc:docMk/>
            <pc:sldMk cId="371162" sldId="263"/>
            <ac:picMk id="9" creationId="{B89C9861-1A40-EACC-3B29-E0D8C2FEEFF5}"/>
          </ac:picMkLst>
        </pc:picChg>
      </pc:sldChg>
      <pc:sldChg chg="delSp modSp add mod">
        <pc:chgData name="varun gokral" userId="cf35d847bb7413c9" providerId="LiveId" clId="{33446CBD-BBA0-47B0-924C-D64D84D64257}" dt="2026-06-28T16:59:55.029" v="417" actId="20577"/>
        <pc:sldMkLst>
          <pc:docMk/>
          <pc:sldMk cId="1651136346" sldId="264"/>
        </pc:sldMkLst>
        <pc:spChg chg="mod">
          <ac:chgData name="varun gokral" userId="cf35d847bb7413c9" providerId="LiveId" clId="{33446CBD-BBA0-47B0-924C-D64D84D64257}" dt="2026-06-28T16:58:47.388" v="407" actId="122"/>
          <ac:spMkLst>
            <pc:docMk/>
            <pc:sldMk cId="1651136346" sldId="264"/>
            <ac:spMk id="2" creationId="{2AB78BA4-4D4D-2587-98AC-D5C88C6AD183}"/>
          </ac:spMkLst>
        </pc:spChg>
        <pc:spChg chg="mod">
          <ac:chgData name="varun gokral" userId="cf35d847bb7413c9" providerId="LiveId" clId="{33446CBD-BBA0-47B0-924C-D64D84D64257}" dt="2026-06-28T16:59:55.029" v="417" actId="20577"/>
          <ac:spMkLst>
            <pc:docMk/>
            <pc:sldMk cId="1651136346" sldId="264"/>
            <ac:spMk id="3" creationId="{FE4F43DB-18D8-AE16-3463-B187A8D196D0}"/>
          </ac:spMkLst>
        </pc:spChg>
        <pc:picChg chg="del">
          <ac:chgData name="varun gokral" userId="cf35d847bb7413c9" providerId="LiveId" clId="{33446CBD-BBA0-47B0-924C-D64D84D64257}" dt="2026-06-28T16:59:01.392" v="408" actId="21"/>
          <ac:picMkLst>
            <pc:docMk/>
            <pc:sldMk cId="1651136346" sldId="264"/>
            <ac:picMk id="5" creationId="{2B2D6F8C-6267-D74B-9E2C-955633C54BC8}"/>
          </ac:picMkLst>
        </pc:picChg>
        <pc:picChg chg="del">
          <ac:chgData name="varun gokral" userId="cf35d847bb7413c9" providerId="LiveId" clId="{33446CBD-BBA0-47B0-924C-D64D84D64257}" dt="2026-06-28T16:59:02.802" v="409" actId="21"/>
          <ac:picMkLst>
            <pc:docMk/>
            <pc:sldMk cId="1651136346" sldId="264"/>
            <ac:picMk id="7" creationId="{AAA946D0-77B6-1DB4-516A-06B2E1D0DB0A}"/>
          </ac:picMkLst>
        </pc:picChg>
        <pc:picChg chg="del">
          <ac:chgData name="varun gokral" userId="cf35d847bb7413c9" providerId="LiveId" clId="{33446CBD-BBA0-47B0-924C-D64D84D64257}" dt="2026-06-28T16:59:04.493" v="410" actId="21"/>
          <ac:picMkLst>
            <pc:docMk/>
            <pc:sldMk cId="1651136346" sldId="264"/>
            <ac:picMk id="9" creationId="{7B71B4C4-9050-ADF3-85E0-BED236BD3A8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DD5AA7B3-9851-4530-8F08-71BD12BF94E3}"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2EB04F-B6DD-4852-B649-454A9C56900A}" type="slidenum">
              <a:rPr lang="en-US" smtClean="0"/>
              <a:t>‹#›</a:t>
            </a:fld>
            <a:endParaRPr lang="en-US"/>
          </a:p>
        </p:txBody>
      </p:sp>
    </p:spTree>
    <p:extLst>
      <p:ext uri="{BB962C8B-B14F-4D97-AF65-F5344CB8AC3E}">
        <p14:creationId xmlns:p14="http://schemas.microsoft.com/office/powerpoint/2010/main" val="355163506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5AA7B3-9851-4530-8F08-71BD12BF94E3}"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2EB04F-B6DD-4852-B649-454A9C56900A}" type="slidenum">
              <a:rPr lang="en-US" smtClean="0"/>
              <a:t>‹#›</a:t>
            </a:fld>
            <a:endParaRPr lang="en-US"/>
          </a:p>
        </p:txBody>
      </p:sp>
    </p:spTree>
    <p:extLst>
      <p:ext uri="{BB962C8B-B14F-4D97-AF65-F5344CB8AC3E}">
        <p14:creationId xmlns:p14="http://schemas.microsoft.com/office/powerpoint/2010/main" val="2220830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DD5AA7B3-9851-4530-8F08-71BD12BF94E3}"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2EB04F-B6DD-4852-B649-454A9C56900A}" type="slidenum">
              <a:rPr lang="en-US" smtClean="0"/>
              <a:t>‹#›</a:t>
            </a:fld>
            <a:endParaRPr lang="en-US"/>
          </a:p>
        </p:txBody>
      </p:sp>
    </p:spTree>
    <p:extLst>
      <p:ext uri="{BB962C8B-B14F-4D97-AF65-F5344CB8AC3E}">
        <p14:creationId xmlns:p14="http://schemas.microsoft.com/office/powerpoint/2010/main" val="401358079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DD5AA7B3-9851-4530-8F08-71BD12BF94E3}" type="datetimeFigureOut">
              <a:rPr lang="en-US" smtClean="0"/>
              <a:t>6/29/2026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F92EB04F-B6DD-4852-B649-454A9C56900A}" type="slidenum">
              <a:rPr lang="en-US" smtClean="0"/>
              <a:t>‹#›</a:t>
            </a:fld>
            <a:endParaRPr lang="en-US"/>
          </a:p>
        </p:txBody>
      </p:sp>
    </p:spTree>
    <p:extLst>
      <p:ext uri="{BB962C8B-B14F-4D97-AF65-F5344CB8AC3E}">
        <p14:creationId xmlns:p14="http://schemas.microsoft.com/office/powerpoint/2010/main" val="2837882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DD5AA7B3-9851-4530-8F08-71BD12BF94E3}"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2EB04F-B6DD-4852-B649-454A9C56900A}"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318891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5AA7B3-9851-4530-8F08-71BD12BF94E3}"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2EB04F-B6DD-4852-B649-454A9C56900A}" type="slidenum">
              <a:rPr lang="en-US" smtClean="0"/>
              <a:t>‹#›</a:t>
            </a:fld>
            <a:endParaRPr lang="en-US"/>
          </a:p>
        </p:txBody>
      </p:sp>
    </p:spTree>
    <p:extLst>
      <p:ext uri="{BB962C8B-B14F-4D97-AF65-F5344CB8AC3E}">
        <p14:creationId xmlns:p14="http://schemas.microsoft.com/office/powerpoint/2010/main" val="357825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5AA7B3-9851-4530-8F08-71BD12BF94E3}"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2EB04F-B6DD-4852-B649-454A9C56900A}" type="slidenum">
              <a:rPr lang="en-US" smtClean="0"/>
              <a:t>‹#›</a:t>
            </a:fld>
            <a:endParaRPr lang="en-US"/>
          </a:p>
        </p:txBody>
      </p:sp>
    </p:spTree>
    <p:extLst>
      <p:ext uri="{BB962C8B-B14F-4D97-AF65-F5344CB8AC3E}">
        <p14:creationId xmlns:p14="http://schemas.microsoft.com/office/powerpoint/2010/main" val="2199827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D5AA7B3-9851-4530-8F08-71BD12BF94E3}" type="datetimeFigureOut">
              <a:rPr lang="en-US" smtClean="0"/>
              <a:t>6/29/2026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F92EB04F-B6DD-4852-B649-454A9C56900A}" type="slidenum">
              <a:rPr lang="en-US" smtClean="0"/>
              <a:t>‹#›</a:t>
            </a:fld>
            <a:endParaRPr lang="en-US"/>
          </a:p>
        </p:txBody>
      </p:sp>
    </p:spTree>
    <p:extLst>
      <p:ext uri="{BB962C8B-B14F-4D97-AF65-F5344CB8AC3E}">
        <p14:creationId xmlns:p14="http://schemas.microsoft.com/office/powerpoint/2010/main" val="4161270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DD5AA7B3-9851-4530-8F08-71BD12BF94E3}" type="datetimeFigureOut">
              <a:rPr lang="en-US" smtClean="0"/>
              <a:t>6/29/2026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F92EB04F-B6DD-4852-B649-454A9C56900A}" type="slidenum">
              <a:rPr lang="en-US" smtClean="0"/>
              <a:t>‹#›</a:t>
            </a:fld>
            <a:endParaRPr lang="en-US"/>
          </a:p>
        </p:txBody>
      </p:sp>
    </p:spTree>
    <p:extLst>
      <p:ext uri="{BB962C8B-B14F-4D97-AF65-F5344CB8AC3E}">
        <p14:creationId xmlns:p14="http://schemas.microsoft.com/office/powerpoint/2010/main" val="781824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5AA7B3-9851-4530-8F08-71BD12BF94E3}"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2EB04F-B6DD-4852-B649-454A9C56900A}" type="slidenum">
              <a:rPr lang="en-US" smtClean="0"/>
              <a:t>‹#›</a:t>
            </a:fld>
            <a:endParaRPr lang="en-US"/>
          </a:p>
        </p:txBody>
      </p:sp>
    </p:spTree>
    <p:extLst>
      <p:ext uri="{BB962C8B-B14F-4D97-AF65-F5344CB8AC3E}">
        <p14:creationId xmlns:p14="http://schemas.microsoft.com/office/powerpoint/2010/main" val="3261804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5AA7B3-9851-4530-8F08-71BD12BF94E3}"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2EB04F-B6DD-4852-B649-454A9C56900A}" type="slidenum">
              <a:rPr lang="en-US" smtClean="0"/>
              <a:t>‹#›</a:t>
            </a:fld>
            <a:endParaRPr lang="en-US"/>
          </a:p>
        </p:txBody>
      </p:sp>
    </p:spTree>
    <p:extLst>
      <p:ext uri="{BB962C8B-B14F-4D97-AF65-F5344CB8AC3E}">
        <p14:creationId xmlns:p14="http://schemas.microsoft.com/office/powerpoint/2010/main" val="2735142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DD5AA7B3-9851-4530-8F08-71BD12BF94E3}" type="datetimeFigureOut">
              <a:rPr lang="en-US" smtClean="0"/>
              <a:t>6/29/2026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92EB04F-B6DD-4852-B649-454A9C56900A}" type="slidenum">
              <a:rPr lang="en-US" smtClean="0"/>
              <a:t>‹#›</a:t>
            </a:fld>
            <a:endParaRPr lang="en-US"/>
          </a:p>
        </p:txBody>
      </p:sp>
    </p:spTree>
    <p:extLst>
      <p:ext uri="{BB962C8B-B14F-4D97-AF65-F5344CB8AC3E}">
        <p14:creationId xmlns:p14="http://schemas.microsoft.com/office/powerpoint/2010/main" val="39374416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3962A-BB42-575E-3CF2-81F3F095603E}"/>
              </a:ext>
            </a:extLst>
          </p:cNvPr>
          <p:cNvSpPr>
            <a:spLocks noGrp="1"/>
          </p:cNvSpPr>
          <p:nvPr>
            <p:ph type="ctrTitle"/>
          </p:nvPr>
        </p:nvSpPr>
        <p:spPr>
          <a:xfrm>
            <a:off x="2041260" y="278545"/>
            <a:ext cx="8161867" cy="551189"/>
          </a:xfrm>
        </p:spPr>
        <p:txBody>
          <a:bodyPr>
            <a:normAutofit fontScale="90000"/>
          </a:bodyPr>
          <a:lstStyle/>
          <a:p>
            <a:r>
              <a:rPr lang="en-US" cap="none" dirty="0">
                <a:latin typeface="Algerian" panose="04020705040A02060702" pitchFamily="82" charset="0"/>
              </a:rPr>
              <a:t>Startup Profit Analysis</a:t>
            </a:r>
          </a:p>
        </p:txBody>
      </p:sp>
      <p:sp>
        <p:nvSpPr>
          <p:cNvPr id="4" name="Subtitle 2">
            <a:extLst>
              <a:ext uri="{FF2B5EF4-FFF2-40B4-BE49-F238E27FC236}">
                <a16:creationId xmlns:a16="http://schemas.microsoft.com/office/drawing/2014/main" id="{DF8E3B55-8B2C-B443-45B4-13A0080C6C76}"/>
              </a:ext>
            </a:extLst>
          </p:cNvPr>
          <p:cNvSpPr>
            <a:spLocks noGrp="1"/>
          </p:cNvSpPr>
          <p:nvPr>
            <p:ph type="subTitle" idx="1"/>
          </p:nvPr>
        </p:nvSpPr>
        <p:spPr>
          <a:xfrm>
            <a:off x="2203450" y="1879600"/>
            <a:ext cx="7837488" cy="3741738"/>
          </a:xfrm>
        </p:spPr>
        <p:txBody>
          <a:bodyPr>
            <a:normAutofit/>
          </a:bodyPr>
          <a:lstStyle/>
          <a:p>
            <a:r>
              <a:rPr lang="en-US" b="1" dirty="0">
                <a:latin typeface="Arial Black" panose="020B0A04020102020204" pitchFamily="34" charset="0"/>
              </a:rPr>
              <a:t>Internship Project June-2026 </a:t>
            </a:r>
          </a:p>
          <a:p>
            <a:r>
              <a:rPr lang="en-US" b="1" dirty="0">
                <a:latin typeface="Arial Black" panose="020B0A04020102020204" pitchFamily="34" charset="0"/>
              </a:rPr>
              <a:t>PRDA-01-Profit Analysis</a:t>
            </a:r>
          </a:p>
          <a:p>
            <a:pPr algn="l"/>
            <a:endParaRPr lang="en-US" b="1" dirty="0">
              <a:latin typeface="Arial Black" panose="020B0A04020102020204" pitchFamily="34" charset="0"/>
            </a:endParaRPr>
          </a:p>
          <a:p>
            <a:pPr marL="342900" indent="-342900">
              <a:buFont typeface="Wingdings" panose="05000000000000000000" pitchFamily="2" charset="2"/>
              <a:buChar char="§"/>
            </a:pPr>
            <a:r>
              <a:rPr lang="en-US" b="1" dirty="0">
                <a:latin typeface="Arial Black" panose="020B0A04020102020204" pitchFamily="34" charset="0"/>
              </a:rPr>
              <a:t>Submitted By: Varun Vinay Gokral</a:t>
            </a:r>
          </a:p>
          <a:p>
            <a:pPr marL="342900" indent="-342900">
              <a:buFont typeface="Wingdings" panose="05000000000000000000" pitchFamily="2" charset="2"/>
              <a:buChar char="§"/>
            </a:pPr>
            <a:r>
              <a:rPr lang="en-US" b="1" dirty="0">
                <a:latin typeface="Arial Black" panose="020B0A04020102020204" pitchFamily="34" charset="0"/>
              </a:rPr>
              <a:t>Tools Used: SQL | Power Bi | Python</a:t>
            </a:r>
          </a:p>
          <a:p>
            <a:pPr marL="342900" indent="-342900">
              <a:buFont typeface="Wingdings" panose="05000000000000000000" pitchFamily="2" charset="2"/>
              <a:buChar char="§"/>
            </a:pPr>
            <a:r>
              <a:rPr lang="en-US" b="1" dirty="0">
                <a:latin typeface="Arial Black" panose="020B0A04020102020204" pitchFamily="34" charset="0"/>
              </a:rPr>
              <a:t>Dataset Source: MySQL Database(50 Records)</a:t>
            </a:r>
          </a:p>
          <a:p>
            <a:endParaRPr lang="en-US" b="1" dirty="0">
              <a:latin typeface="Arial Black" panose="020B0A04020102020204" pitchFamily="34" charset="0"/>
            </a:endParaRPr>
          </a:p>
        </p:txBody>
      </p:sp>
    </p:spTree>
    <p:extLst>
      <p:ext uri="{BB962C8B-B14F-4D97-AF65-F5344CB8AC3E}">
        <p14:creationId xmlns:p14="http://schemas.microsoft.com/office/powerpoint/2010/main" val="3152446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AE49B-5984-1515-5F66-254448DE4AFF}"/>
              </a:ext>
            </a:extLst>
          </p:cNvPr>
          <p:cNvSpPr>
            <a:spLocks noGrp="1"/>
          </p:cNvSpPr>
          <p:nvPr>
            <p:ph type="title"/>
          </p:nvPr>
        </p:nvSpPr>
        <p:spPr>
          <a:xfrm>
            <a:off x="1134535" y="211159"/>
            <a:ext cx="9660466" cy="491574"/>
          </a:xfrm>
        </p:spPr>
        <p:txBody>
          <a:bodyPr>
            <a:normAutofit fontScale="90000"/>
          </a:bodyPr>
          <a:lstStyle/>
          <a:p>
            <a:r>
              <a:rPr lang="en-US" b="1" cap="none" dirty="0">
                <a:latin typeface="Agency FB" panose="020B0503020202020204" pitchFamily="34" charset="0"/>
              </a:rPr>
              <a:t>Problem Statement &amp; Project Objective</a:t>
            </a:r>
          </a:p>
        </p:txBody>
      </p:sp>
      <p:sp>
        <p:nvSpPr>
          <p:cNvPr id="3" name="Content Placeholder 2">
            <a:extLst>
              <a:ext uri="{FF2B5EF4-FFF2-40B4-BE49-F238E27FC236}">
                <a16:creationId xmlns:a16="http://schemas.microsoft.com/office/drawing/2014/main" id="{68DF4B3B-81EA-5091-BCB6-4D518DA1E870}"/>
              </a:ext>
            </a:extLst>
          </p:cNvPr>
          <p:cNvSpPr>
            <a:spLocks noGrp="1"/>
          </p:cNvSpPr>
          <p:nvPr>
            <p:ph idx="1"/>
          </p:nvPr>
        </p:nvSpPr>
        <p:spPr>
          <a:xfrm>
            <a:off x="1049867" y="931334"/>
            <a:ext cx="9745133" cy="5257799"/>
          </a:xfrm>
        </p:spPr>
        <p:txBody>
          <a:bodyPr/>
          <a:lstStyle/>
          <a:p>
            <a:r>
              <a:rPr lang="en-US" b="1" dirty="0"/>
              <a:t>Problem Statement </a:t>
            </a:r>
            <a:r>
              <a:rPr lang="en-US" dirty="0"/>
              <a:t>:Startup companies invest in Research &amp; Development, Administration, and Marketing to improve their business performance. Understanding how these expenditures influence profit helps businesses make informed financial and strategic decisions.</a:t>
            </a:r>
          </a:p>
          <a:p>
            <a:r>
              <a:rPr lang="en-US" b="1" dirty="0"/>
              <a:t>Project Objective </a:t>
            </a:r>
            <a:r>
              <a:rPr lang="en-US" dirty="0"/>
              <a:t>:The objective of this project is to analyze startup expenditure data and predict profit using Linear Regression. The project also aims to visualize business insights through an interactive Power BI dashboard.</a:t>
            </a:r>
          </a:p>
          <a:p>
            <a:r>
              <a:rPr lang="en-US" b="1" dirty="0"/>
              <a:t>Dataset Overview:</a:t>
            </a:r>
          </a:p>
          <a:p>
            <a:r>
              <a:rPr lang="en-US" dirty="0"/>
              <a:t>Dataset: Startup Profit Analysis</a:t>
            </a:r>
          </a:p>
          <a:p>
            <a:r>
              <a:rPr lang="en-US" dirty="0"/>
              <a:t>Source : MySQL Database</a:t>
            </a:r>
          </a:p>
          <a:p>
            <a:r>
              <a:rPr lang="en-US" dirty="0"/>
              <a:t>Total Records: 50 Startups</a:t>
            </a:r>
          </a:p>
          <a:p>
            <a:r>
              <a:rPr lang="en-US" dirty="0"/>
              <a:t>Features: R&amp;D Spend, Administration, Marketing Spend, State, and Profit</a:t>
            </a:r>
          </a:p>
          <a:p>
            <a:r>
              <a:rPr lang="en-US" dirty="0"/>
              <a:t>Tools Used: MySQL ,Python (Pandas, Scikit-learn) ,Power BI</a:t>
            </a:r>
          </a:p>
        </p:txBody>
      </p:sp>
    </p:spTree>
    <p:extLst>
      <p:ext uri="{BB962C8B-B14F-4D97-AF65-F5344CB8AC3E}">
        <p14:creationId xmlns:p14="http://schemas.microsoft.com/office/powerpoint/2010/main" val="2260598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A8235-5D84-0ED8-7839-DBD720C9C1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FB3B1-E9A9-6DAA-2867-5FD688A43C2B}"/>
              </a:ext>
            </a:extLst>
          </p:cNvPr>
          <p:cNvSpPr>
            <a:spLocks noGrp="1"/>
          </p:cNvSpPr>
          <p:nvPr>
            <p:ph type="title"/>
          </p:nvPr>
        </p:nvSpPr>
        <p:spPr>
          <a:xfrm>
            <a:off x="1109133" y="211159"/>
            <a:ext cx="9770534" cy="491574"/>
          </a:xfrm>
        </p:spPr>
        <p:txBody>
          <a:bodyPr>
            <a:normAutofit fontScale="90000"/>
          </a:bodyPr>
          <a:lstStyle/>
          <a:p>
            <a:r>
              <a:rPr lang="en-US" b="1" cap="none" dirty="0">
                <a:latin typeface="Agency FB" panose="020B0503020202020204" pitchFamily="34" charset="0"/>
              </a:rPr>
              <a:t>Data Collection &amp; Preprocessing</a:t>
            </a:r>
          </a:p>
        </p:txBody>
      </p:sp>
      <p:sp>
        <p:nvSpPr>
          <p:cNvPr id="3" name="Content Placeholder 2">
            <a:extLst>
              <a:ext uri="{FF2B5EF4-FFF2-40B4-BE49-F238E27FC236}">
                <a16:creationId xmlns:a16="http://schemas.microsoft.com/office/drawing/2014/main" id="{DA8AC38F-91D9-811F-F854-3670755A8415}"/>
              </a:ext>
            </a:extLst>
          </p:cNvPr>
          <p:cNvSpPr>
            <a:spLocks noGrp="1"/>
          </p:cNvSpPr>
          <p:nvPr>
            <p:ph idx="1"/>
          </p:nvPr>
        </p:nvSpPr>
        <p:spPr>
          <a:xfrm>
            <a:off x="1109133" y="973667"/>
            <a:ext cx="9770534" cy="5461000"/>
          </a:xfrm>
        </p:spPr>
        <p:txBody>
          <a:bodyPr>
            <a:normAutofit lnSpcReduction="10000"/>
          </a:bodyPr>
          <a:lstStyle/>
          <a:p>
            <a:r>
              <a:rPr lang="en-US" b="1" dirty="0"/>
              <a:t>Data Collection:</a:t>
            </a:r>
          </a:p>
          <a:p>
            <a:r>
              <a:rPr lang="en-US" dirty="0"/>
              <a:t>Connected to the MySQL database using the provided credentials.</a:t>
            </a:r>
          </a:p>
          <a:p>
            <a:r>
              <a:rPr lang="en-US" dirty="0"/>
              <a:t>Retrieved the startup dataset from the startup table.</a:t>
            </a:r>
          </a:p>
          <a:p>
            <a:r>
              <a:rPr lang="en-US" dirty="0"/>
              <a:t>Imported the data into Python (Jupyter Notebook) for analysis.</a:t>
            </a:r>
          </a:p>
          <a:p>
            <a:r>
              <a:rPr lang="en-US" b="1" dirty="0"/>
              <a:t>Data Preprocessing:</a:t>
            </a:r>
          </a:p>
          <a:p>
            <a:r>
              <a:rPr lang="en-US" dirty="0"/>
              <a:t>Loaded the dataset using the Pandas library.</a:t>
            </a:r>
          </a:p>
          <a:p>
            <a:r>
              <a:rPr lang="en-US" dirty="0"/>
              <a:t>Verified the dataset using "head()", "info()", and "describe()" </a:t>
            </a:r>
          </a:p>
          <a:p>
            <a:r>
              <a:rPr lang="en-US" dirty="0"/>
              <a:t>Checked for missing values and duplicate records.</a:t>
            </a:r>
          </a:p>
          <a:p>
            <a:r>
              <a:rPr lang="en-US" dirty="0"/>
              <a:t> Converted the categorical State column into numerical dummy variables using One-Hot Encoding.</a:t>
            </a:r>
          </a:p>
          <a:p>
            <a:r>
              <a:rPr lang="en-US" dirty="0"/>
              <a:t>Split the dataset into training (80%) and testing (20%) sets for model development.</a:t>
            </a:r>
          </a:p>
          <a:p>
            <a:r>
              <a:rPr lang="en-US" b="1" dirty="0"/>
              <a:t>Data Quality:</a:t>
            </a:r>
          </a:p>
          <a:p>
            <a:r>
              <a:rPr lang="en-US" dirty="0"/>
              <a:t>Total Records: 50- Missing Values: 0</a:t>
            </a:r>
          </a:p>
          <a:p>
            <a:r>
              <a:rPr lang="en-US" dirty="0"/>
              <a:t> Duplicate Records: 0</a:t>
            </a:r>
          </a:p>
          <a:p>
            <a:r>
              <a:rPr lang="en-US" dirty="0"/>
              <a:t>Data Types: Verified and suitable for analysis.</a:t>
            </a:r>
          </a:p>
        </p:txBody>
      </p:sp>
    </p:spTree>
    <p:extLst>
      <p:ext uri="{BB962C8B-B14F-4D97-AF65-F5344CB8AC3E}">
        <p14:creationId xmlns:p14="http://schemas.microsoft.com/office/powerpoint/2010/main" val="2368864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38686-282C-5B43-FFBD-22238F2FD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ECD1E-9F4E-3F11-6551-B1FBAB9388C9}"/>
              </a:ext>
            </a:extLst>
          </p:cNvPr>
          <p:cNvSpPr>
            <a:spLocks noGrp="1"/>
          </p:cNvSpPr>
          <p:nvPr>
            <p:ph type="title"/>
          </p:nvPr>
        </p:nvSpPr>
        <p:spPr>
          <a:xfrm>
            <a:off x="1109133" y="211159"/>
            <a:ext cx="9770534" cy="491574"/>
          </a:xfrm>
        </p:spPr>
        <p:txBody>
          <a:bodyPr>
            <a:normAutofit fontScale="90000"/>
          </a:bodyPr>
          <a:lstStyle/>
          <a:p>
            <a:r>
              <a:rPr lang="en-US" b="1" cap="none" dirty="0">
                <a:latin typeface="Agency FB" panose="020B0503020202020204" pitchFamily="34" charset="0"/>
              </a:rPr>
              <a:t>Linear Regression Analysis</a:t>
            </a:r>
          </a:p>
        </p:txBody>
      </p:sp>
      <p:sp>
        <p:nvSpPr>
          <p:cNvPr id="3" name="Content Placeholder 2">
            <a:extLst>
              <a:ext uri="{FF2B5EF4-FFF2-40B4-BE49-F238E27FC236}">
                <a16:creationId xmlns:a16="http://schemas.microsoft.com/office/drawing/2014/main" id="{927A0B02-294C-9DDD-4317-BEFF0210F5E7}"/>
              </a:ext>
            </a:extLst>
          </p:cNvPr>
          <p:cNvSpPr>
            <a:spLocks noGrp="1"/>
          </p:cNvSpPr>
          <p:nvPr>
            <p:ph idx="1"/>
          </p:nvPr>
        </p:nvSpPr>
        <p:spPr>
          <a:xfrm>
            <a:off x="1109133" y="973667"/>
            <a:ext cx="9770534" cy="5461000"/>
          </a:xfrm>
        </p:spPr>
        <p:txBody>
          <a:bodyPr>
            <a:normAutofit lnSpcReduction="10000"/>
          </a:bodyPr>
          <a:lstStyle/>
          <a:p>
            <a:r>
              <a:rPr lang="en-US" b="1" dirty="0"/>
              <a:t>Model Development</a:t>
            </a:r>
          </a:p>
          <a:p>
            <a:r>
              <a:rPr lang="en-US" dirty="0"/>
              <a:t>The startup dataset was analyzed using the Linear Regression algorithm to predict profit based on the following independent variables:</a:t>
            </a:r>
          </a:p>
          <a:p>
            <a:r>
              <a:rPr lang="en-US" dirty="0"/>
              <a:t>R&amp;D Spend</a:t>
            </a:r>
          </a:p>
          <a:p>
            <a:r>
              <a:rPr lang="en-US" dirty="0"/>
              <a:t>Administration</a:t>
            </a:r>
          </a:p>
          <a:p>
            <a:r>
              <a:rPr lang="en-US" dirty="0"/>
              <a:t>Marketing Spend</a:t>
            </a:r>
          </a:p>
          <a:p>
            <a:r>
              <a:rPr lang="en-US" dirty="0"/>
              <a:t>State (One-Hot Encoded)</a:t>
            </a:r>
          </a:p>
          <a:p>
            <a:r>
              <a:rPr lang="en-US" b="1" dirty="0"/>
              <a:t>The dataset was divided into:</a:t>
            </a:r>
          </a:p>
          <a:p>
            <a:r>
              <a:rPr lang="en-US" dirty="0"/>
              <a:t>Training Data: 80%</a:t>
            </a:r>
          </a:p>
          <a:p>
            <a:r>
              <a:rPr lang="en-US" dirty="0"/>
              <a:t>Testing Data: 20%</a:t>
            </a:r>
          </a:p>
          <a:p>
            <a:r>
              <a:rPr lang="en-US" b="1" dirty="0"/>
              <a:t>Model Evaluation</a:t>
            </a:r>
          </a:p>
          <a:p>
            <a:r>
              <a:rPr lang="en-US" dirty="0"/>
              <a:t>The performance of the regression model was evaluated using:</a:t>
            </a:r>
          </a:p>
          <a:p>
            <a:r>
              <a:rPr lang="en-US" dirty="0"/>
              <a:t> Mean Absolute Error (MAE)</a:t>
            </a:r>
          </a:p>
          <a:p>
            <a:r>
              <a:rPr lang="en-US" dirty="0"/>
              <a:t>Mean Squared Error (MSE)</a:t>
            </a:r>
          </a:p>
          <a:p>
            <a:r>
              <a:rPr lang="en-US" dirty="0"/>
              <a:t>R² Score</a:t>
            </a:r>
          </a:p>
        </p:txBody>
      </p:sp>
    </p:spTree>
    <p:extLst>
      <p:ext uri="{BB962C8B-B14F-4D97-AF65-F5344CB8AC3E}">
        <p14:creationId xmlns:p14="http://schemas.microsoft.com/office/powerpoint/2010/main" val="2403415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DA4B1-0D57-659B-3054-86F576A50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3D7B4-40E2-438C-6E62-FDF499308389}"/>
              </a:ext>
            </a:extLst>
          </p:cNvPr>
          <p:cNvSpPr>
            <a:spLocks noGrp="1"/>
          </p:cNvSpPr>
          <p:nvPr>
            <p:ph type="title"/>
          </p:nvPr>
        </p:nvSpPr>
        <p:spPr>
          <a:xfrm>
            <a:off x="1109133" y="211159"/>
            <a:ext cx="9770534" cy="491574"/>
          </a:xfrm>
        </p:spPr>
        <p:txBody>
          <a:bodyPr>
            <a:normAutofit fontScale="90000"/>
          </a:bodyPr>
          <a:lstStyle/>
          <a:p>
            <a:r>
              <a:rPr lang="en-US" b="1" cap="none" dirty="0">
                <a:latin typeface="Agency FB" panose="020B0503020202020204" pitchFamily="34" charset="0"/>
              </a:rPr>
              <a:t>Regression Results &amp; Profit Prediction</a:t>
            </a:r>
          </a:p>
        </p:txBody>
      </p:sp>
      <p:sp>
        <p:nvSpPr>
          <p:cNvPr id="3" name="Content Placeholder 2">
            <a:extLst>
              <a:ext uri="{FF2B5EF4-FFF2-40B4-BE49-F238E27FC236}">
                <a16:creationId xmlns:a16="http://schemas.microsoft.com/office/drawing/2014/main" id="{75CF627E-8A5F-E5D6-EE24-B4134B58F300}"/>
              </a:ext>
            </a:extLst>
          </p:cNvPr>
          <p:cNvSpPr>
            <a:spLocks noGrp="1"/>
          </p:cNvSpPr>
          <p:nvPr>
            <p:ph idx="1"/>
          </p:nvPr>
        </p:nvSpPr>
        <p:spPr>
          <a:xfrm>
            <a:off x="1109133" y="973667"/>
            <a:ext cx="9770534" cy="5461000"/>
          </a:xfrm>
        </p:spPr>
        <p:txBody>
          <a:bodyPr>
            <a:normAutofit fontScale="92500" lnSpcReduction="10000"/>
          </a:bodyPr>
          <a:lstStyle/>
          <a:p>
            <a:r>
              <a:rPr lang="en-US" b="1" dirty="0"/>
              <a:t>Model Performance</a:t>
            </a:r>
          </a:p>
          <a:p>
            <a:r>
              <a:rPr lang="en-US" dirty="0"/>
              <a:t>The Linear Regression model was evaluated using standard regression metrics.</a:t>
            </a:r>
          </a:p>
          <a:p>
            <a:r>
              <a:rPr lang="en-US" dirty="0"/>
              <a:t>Evaluation Results</a:t>
            </a:r>
          </a:p>
          <a:p>
            <a:r>
              <a:rPr lang="en-US" dirty="0"/>
              <a:t>Mean Absolute Error (MAE): </a:t>
            </a:r>
            <a:r>
              <a:rPr lang="en-US" b="1" dirty="0"/>
              <a:t>6961.48</a:t>
            </a:r>
          </a:p>
          <a:p>
            <a:r>
              <a:rPr lang="en-US" dirty="0"/>
              <a:t>Mean Squared Error (MSE): </a:t>
            </a:r>
            <a:r>
              <a:rPr lang="en-US" b="1" dirty="0"/>
              <a:t>82,010,363.04</a:t>
            </a:r>
          </a:p>
          <a:p>
            <a:r>
              <a:rPr lang="en-US" dirty="0"/>
              <a:t>R² Score</a:t>
            </a:r>
            <a:r>
              <a:rPr lang="en-US" b="1" dirty="0"/>
              <a:t>: 0.899</a:t>
            </a:r>
          </a:p>
          <a:p>
            <a:r>
              <a:rPr lang="en-US" dirty="0"/>
              <a:t>The model achieved an R² Score of approximately</a:t>
            </a:r>
            <a:r>
              <a:rPr lang="en-US" b="1" dirty="0"/>
              <a:t> 0.90</a:t>
            </a:r>
            <a:r>
              <a:rPr lang="en-US" dirty="0"/>
              <a:t>, indicating that it explains about </a:t>
            </a:r>
            <a:r>
              <a:rPr lang="en-US" b="1" dirty="0"/>
              <a:t>90% </a:t>
            </a:r>
            <a:r>
              <a:rPr lang="en-US" dirty="0"/>
              <a:t>of the variation in startup profit. This demonstrates that the model has good predictive performance.</a:t>
            </a:r>
          </a:p>
          <a:p>
            <a:r>
              <a:rPr lang="en-US" b="1" dirty="0"/>
              <a:t>Profit Prediction</a:t>
            </a:r>
          </a:p>
          <a:p>
            <a:r>
              <a:rPr lang="en-US" dirty="0"/>
              <a:t>The trained model was used to predict the profit for the two startup expenditure records provided in the assignment.</a:t>
            </a:r>
          </a:p>
          <a:p>
            <a:r>
              <a:rPr lang="en-US" b="1" dirty="0"/>
              <a:t>Predicted Profits</a:t>
            </a:r>
          </a:p>
          <a:p>
            <a:r>
              <a:rPr lang="en-US" dirty="0"/>
              <a:t>Startup 1: </a:t>
            </a:r>
            <a:r>
              <a:rPr lang="en-US" b="1" dirty="0"/>
              <a:t>70,935.54</a:t>
            </a:r>
          </a:p>
          <a:p>
            <a:r>
              <a:rPr lang="en-US" dirty="0"/>
              <a:t>Startup 2: </a:t>
            </a:r>
            <a:r>
              <a:rPr lang="en-US" b="1" dirty="0"/>
              <a:t>70,768.48</a:t>
            </a:r>
          </a:p>
          <a:p>
            <a:r>
              <a:rPr lang="en-US" dirty="0"/>
              <a:t> These predicted values were generated using the trained Linear Regression model based on R&amp;D Spend, Administration Spend, Marketing Spend, and State.</a:t>
            </a:r>
          </a:p>
        </p:txBody>
      </p:sp>
      <p:pic>
        <p:nvPicPr>
          <p:cNvPr id="5" name="Picture 4">
            <a:extLst>
              <a:ext uri="{FF2B5EF4-FFF2-40B4-BE49-F238E27FC236}">
                <a16:creationId xmlns:a16="http://schemas.microsoft.com/office/drawing/2014/main" id="{9B46B97E-1C46-9A9F-79FC-06B44447E5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3352" y="1727038"/>
            <a:ext cx="3856315" cy="1413735"/>
          </a:xfrm>
          <a:prstGeom prst="rect">
            <a:avLst/>
          </a:prstGeom>
        </p:spPr>
      </p:pic>
      <p:pic>
        <p:nvPicPr>
          <p:cNvPr id="7" name="Picture 6">
            <a:extLst>
              <a:ext uri="{FF2B5EF4-FFF2-40B4-BE49-F238E27FC236}">
                <a16:creationId xmlns:a16="http://schemas.microsoft.com/office/drawing/2014/main" id="{687CBD2C-BD38-F58E-0423-C4EE086B87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66108" y="4360334"/>
            <a:ext cx="2254403" cy="1435060"/>
          </a:xfrm>
          <a:prstGeom prst="rect">
            <a:avLst/>
          </a:prstGeom>
        </p:spPr>
      </p:pic>
    </p:spTree>
    <p:extLst>
      <p:ext uri="{BB962C8B-B14F-4D97-AF65-F5344CB8AC3E}">
        <p14:creationId xmlns:p14="http://schemas.microsoft.com/office/powerpoint/2010/main" val="2296702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AD988-E9A6-0E35-4308-91956B907BC9}"/>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65EB0517-B7C6-23EB-7DEF-90095F1A20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66" y="0"/>
            <a:ext cx="12244968" cy="6858000"/>
          </a:xfrm>
          <a:prstGeom prst="rect">
            <a:avLst/>
          </a:prstGeom>
        </p:spPr>
      </p:pic>
    </p:spTree>
    <p:extLst>
      <p:ext uri="{BB962C8B-B14F-4D97-AF65-F5344CB8AC3E}">
        <p14:creationId xmlns:p14="http://schemas.microsoft.com/office/powerpoint/2010/main" val="254206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EA107-9F46-8608-E750-1E732CCC03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0B8947-F94D-A231-CC0D-C54E198B35E7}"/>
              </a:ext>
            </a:extLst>
          </p:cNvPr>
          <p:cNvSpPr>
            <a:spLocks noGrp="1"/>
          </p:cNvSpPr>
          <p:nvPr>
            <p:ph type="title"/>
          </p:nvPr>
        </p:nvSpPr>
        <p:spPr>
          <a:xfrm>
            <a:off x="1109133" y="211159"/>
            <a:ext cx="9770534" cy="491574"/>
          </a:xfrm>
        </p:spPr>
        <p:txBody>
          <a:bodyPr>
            <a:normAutofit fontScale="90000"/>
          </a:bodyPr>
          <a:lstStyle/>
          <a:p>
            <a:r>
              <a:rPr lang="en-US" b="1" cap="none" dirty="0">
                <a:latin typeface="Agency FB" panose="020B0503020202020204" pitchFamily="34" charset="0"/>
              </a:rPr>
              <a:t>Dashboard Insights &amp; Recommendations</a:t>
            </a:r>
          </a:p>
        </p:txBody>
      </p:sp>
      <p:sp>
        <p:nvSpPr>
          <p:cNvPr id="3" name="Content Placeholder 2">
            <a:extLst>
              <a:ext uri="{FF2B5EF4-FFF2-40B4-BE49-F238E27FC236}">
                <a16:creationId xmlns:a16="http://schemas.microsoft.com/office/drawing/2014/main" id="{0D9089D0-7DA9-F949-6901-6F0BACA1A0AB}"/>
              </a:ext>
            </a:extLst>
          </p:cNvPr>
          <p:cNvSpPr>
            <a:spLocks noGrp="1"/>
          </p:cNvSpPr>
          <p:nvPr>
            <p:ph idx="1"/>
          </p:nvPr>
        </p:nvSpPr>
        <p:spPr>
          <a:xfrm>
            <a:off x="1109133" y="973667"/>
            <a:ext cx="9770534" cy="5461000"/>
          </a:xfrm>
        </p:spPr>
        <p:txBody>
          <a:bodyPr>
            <a:normAutofit fontScale="92500" lnSpcReduction="10000"/>
          </a:bodyPr>
          <a:lstStyle/>
          <a:p>
            <a:r>
              <a:rPr lang="en-US" b="1" dirty="0"/>
              <a:t>Key Insights</a:t>
            </a:r>
          </a:p>
          <a:p>
            <a:r>
              <a:rPr lang="en-US" dirty="0"/>
              <a:t>The average profit across all startups is </a:t>
            </a:r>
            <a:r>
              <a:rPr lang="en-US" b="1" dirty="0"/>
              <a:t>112.01K.</a:t>
            </a:r>
          </a:p>
          <a:p>
            <a:r>
              <a:rPr lang="en-US" dirty="0"/>
              <a:t>The average expenditure on Marketing (</a:t>
            </a:r>
            <a:r>
              <a:rPr lang="en-US" b="1" dirty="0"/>
              <a:t>211.03K</a:t>
            </a:r>
            <a:r>
              <a:rPr lang="en-US" dirty="0"/>
              <a:t>) is the highest, followed by Administration (</a:t>
            </a:r>
            <a:r>
              <a:rPr lang="en-US" b="1" dirty="0"/>
              <a:t>121.34K</a:t>
            </a:r>
            <a:r>
              <a:rPr lang="en-US" dirty="0"/>
              <a:t>) and R&amp;D (</a:t>
            </a:r>
            <a:r>
              <a:rPr lang="en-US" b="1" dirty="0"/>
              <a:t>73.72K</a:t>
            </a:r>
            <a:r>
              <a:rPr lang="en-US" dirty="0"/>
              <a:t>).</a:t>
            </a:r>
          </a:p>
          <a:p>
            <a:r>
              <a:rPr lang="en-US" dirty="0"/>
              <a:t>New York records the highest total profit, followed closely by Florida, while California has the lowest total profit among the three states.</a:t>
            </a:r>
          </a:p>
          <a:p>
            <a:r>
              <a:rPr lang="en-US" dirty="0"/>
              <a:t>There is a strong positive relationship between R&amp;D Spend and Profit, indicating that startups investing more in research and development generally earn higher profits.</a:t>
            </a:r>
          </a:p>
          <a:p>
            <a:r>
              <a:rPr lang="en-US" dirty="0"/>
              <a:t>Marketing Spend also shows a positive relationship with profit, although the correlation is weaker than R&amp;D spending.</a:t>
            </a:r>
          </a:p>
          <a:p>
            <a:r>
              <a:rPr lang="en-US" dirty="0"/>
              <a:t>Administration Spend has the weakest relationship with profit, suggesting that higher administrative expenses alone do not significantly increase profitability.</a:t>
            </a:r>
          </a:p>
          <a:p>
            <a:r>
              <a:rPr lang="en-US" b="1" dirty="0"/>
              <a:t>Recommendations</a:t>
            </a:r>
          </a:p>
          <a:p>
            <a:r>
              <a:rPr lang="en-US" dirty="0"/>
              <a:t>Increase investment in Research &amp; Development to improve profitability.</a:t>
            </a:r>
          </a:p>
          <a:p>
            <a:r>
              <a:rPr lang="en-US" dirty="0"/>
              <a:t>Maintain an effective marketing strategy while controlling unnecessary marketing expenses.</a:t>
            </a:r>
          </a:p>
          <a:p>
            <a:r>
              <a:rPr lang="en-US" dirty="0"/>
              <a:t>Optimize administration costs to improve operational efficiency.</a:t>
            </a:r>
          </a:p>
          <a:p>
            <a:r>
              <a:rPr lang="en-US" dirty="0"/>
              <a:t>Use data-driven analysis to support investment and business decisions.</a:t>
            </a:r>
          </a:p>
        </p:txBody>
      </p:sp>
    </p:spTree>
    <p:extLst>
      <p:ext uri="{BB962C8B-B14F-4D97-AF65-F5344CB8AC3E}">
        <p14:creationId xmlns:p14="http://schemas.microsoft.com/office/powerpoint/2010/main" val="1538497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73ADB-90AE-C509-D70C-E9A38D07A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62C846-5FB2-912A-D1E7-63DEE9CF09BB}"/>
              </a:ext>
            </a:extLst>
          </p:cNvPr>
          <p:cNvSpPr>
            <a:spLocks noGrp="1"/>
          </p:cNvSpPr>
          <p:nvPr>
            <p:ph type="title"/>
          </p:nvPr>
        </p:nvSpPr>
        <p:spPr>
          <a:xfrm>
            <a:off x="1109133" y="211159"/>
            <a:ext cx="9770534" cy="491574"/>
          </a:xfrm>
        </p:spPr>
        <p:txBody>
          <a:bodyPr>
            <a:normAutofit fontScale="90000"/>
          </a:bodyPr>
          <a:lstStyle/>
          <a:p>
            <a:r>
              <a:rPr lang="en-US" b="1" cap="none" dirty="0">
                <a:latin typeface="Agency FB" panose="020B0503020202020204" pitchFamily="34" charset="0"/>
              </a:rPr>
              <a:t>State-wise Dashboard </a:t>
            </a:r>
          </a:p>
        </p:txBody>
      </p:sp>
      <p:sp>
        <p:nvSpPr>
          <p:cNvPr id="3" name="Content Placeholder 2">
            <a:extLst>
              <a:ext uri="{FF2B5EF4-FFF2-40B4-BE49-F238E27FC236}">
                <a16:creationId xmlns:a16="http://schemas.microsoft.com/office/drawing/2014/main" id="{45B520A4-EE70-F090-C106-404645C3450E}"/>
              </a:ext>
            </a:extLst>
          </p:cNvPr>
          <p:cNvSpPr>
            <a:spLocks noGrp="1"/>
          </p:cNvSpPr>
          <p:nvPr>
            <p:ph idx="1"/>
          </p:nvPr>
        </p:nvSpPr>
        <p:spPr>
          <a:xfrm>
            <a:off x="1109133" y="973667"/>
            <a:ext cx="9770534" cy="5461000"/>
          </a:xfrm>
        </p:spPr>
        <p:txBody>
          <a:bodyPr>
            <a:normAutofit/>
          </a:bodyPr>
          <a:lstStyle/>
          <a:p>
            <a:r>
              <a:rPr lang="en-US" b="1" dirty="0"/>
              <a:t>California</a:t>
            </a:r>
          </a:p>
          <a:p>
            <a:r>
              <a:rPr lang="en-US" dirty="0"/>
              <a:t>Lowest average profit among the three states.</a:t>
            </a:r>
          </a:p>
          <a:p>
            <a:r>
              <a:rPr lang="en-US" dirty="0"/>
              <a:t>Lower R&amp;D and Marketing spending compared to other states.</a:t>
            </a:r>
          </a:p>
          <a:p>
            <a:r>
              <a:rPr lang="en-US" dirty="0"/>
              <a:t>Profit increases as R&amp;D spending increases.</a:t>
            </a:r>
          </a:p>
          <a:p>
            <a:r>
              <a:rPr lang="en-US" b="1" dirty="0"/>
              <a:t>Florida</a:t>
            </a:r>
          </a:p>
          <a:p>
            <a:r>
              <a:rPr lang="en-US" dirty="0"/>
              <a:t>Highest average profit.</a:t>
            </a:r>
          </a:p>
          <a:p>
            <a:r>
              <a:rPr lang="en-US" dirty="0"/>
              <a:t>Highest investment in R&amp;D and Marketing.</a:t>
            </a:r>
          </a:p>
          <a:p>
            <a:r>
              <a:rPr lang="en-US" dirty="0"/>
              <a:t>Strong positive relationship between R&amp;D spending and profit.</a:t>
            </a:r>
          </a:p>
          <a:p>
            <a:r>
              <a:rPr lang="en-US" b="1" dirty="0"/>
              <a:t>New York</a:t>
            </a:r>
          </a:p>
          <a:p>
            <a:r>
              <a:rPr lang="en-US" dirty="0"/>
              <a:t>Average profit is slightly lower than Florida.</a:t>
            </a:r>
          </a:p>
          <a:p>
            <a:r>
              <a:rPr lang="en-US" dirty="0"/>
              <a:t>Balanced spending across all departments.</a:t>
            </a:r>
          </a:p>
          <a:p>
            <a:r>
              <a:rPr lang="en-US" dirty="0"/>
              <a:t>Consistent profit growth with increasing R&amp;D investment.</a:t>
            </a:r>
          </a:p>
        </p:txBody>
      </p:sp>
      <p:pic>
        <p:nvPicPr>
          <p:cNvPr id="5" name="Picture 4">
            <a:extLst>
              <a:ext uri="{FF2B5EF4-FFF2-40B4-BE49-F238E27FC236}">
                <a16:creationId xmlns:a16="http://schemas.microsoft.com/office/drawing/2014/main" id="{8D87C4CB-24B2-FEEB-4740-94D704612C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0802" y="880533"/>
            <a:ext cx="3208865" cy="1736243"/>
          </a:xfrm>
          <a:prstGeom prst="rect">
            <a:avLst/>
          </a:prstGeom>
        </p:spPr>
      </p:pic>
      <p:pic>
        <p:nvPicPr>
          <p:cNvPr id="7" name="Picture 6">
            <a:extLst>
              <a:ext uri="{FF2B5EF4-FFF2-40B4-BE49-F238E27FC236}">
                <a16:creationId xmlns:a16="http://schemas.microsoft.com/office/drawing/2014/main" id="{A66EAD89-A122-D464-3A68-34C4B829BE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0802" y="2616776"/>
            <a:ext cx="3208865" cy="1769076"/>
          </a:xfrm>
          <a:prstGeom prst="rect">
            <a:avLst/>
          </a:prstGeom>
        </p:spPr>
      </p:pic>
      <p:pic>
        <p:nvPicPr>
          <p:cNvPr id="9" name="Picture 8">
            <a:extLst>
              <a:ext uri="{FF2B5EF4-FFF2-40B4-BE49-F238E27FC236}">
                <a16:creationId xmlns:a16="http://schemas.microsoft.com/office/drawing/2014/main" id="{B89C9861-1A40-EACC-3B29-E0D8C2FEEF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2786" y="4385852"/>
            <a:ext cx="3216881" cy="1769076"/>
          </a:xfrm>
          <a:prstGeom prst="rect">
            <a:avLst/>
          </a:prstGeom>
        </p:spPr>
      </p:pic>
    </p:spTree>
    <p:extLst>
      <p:ext uri="{BB962C8B-B14F-4D97-AF65-F5344CB8AC3E}">
        <p14:creationId xmlns:p14="http://schemas.microsoft.com/office/powerpoint/2010/main" val="3711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25599-4CA4-8411-72A2-612F79E60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78BA4-4D4D-2587-98AC-D5C88C6AD183}"/>
              </a:ext>
            </a:extLst>
          </p:cNvPr>
          <p:cNvSpPr>
            <a:spLocks noGrp="1"/>
          </p:cNvSpPr>
          <p:nvPr>
            <p:ph type="title"/>
          </p:nvPr>
        </p:nvSpPr>
        <p:spPr>
          <a:xfrm>
            <a:off x="1109133" y="211159"/>
            <a:ext cx="9770534" cy="491574"/>
          </a:xfrm>
        </p:spPr>
        <p:txBody>
          <a:bodyPr>
            <a:normAutofit fontScale="90000"/>
          </a:bodyPr>
          <a:lstStyle/>
          <a:p>
            <a:r>
              <a:rPr lang="en-US" b="1" cap="none" dirty="0">
                <a:latin typeface="Agency FB" panose="020B0503020202020204" pitchFamily="34" charset="0"/>
              </a:rPr>
              <a:t>Overall Conclusion</a:t>
            </a:r>
          </a:p>
        </p:txBody>
      </p:sp>
      <p:sp>
        <p:nvSpPr>
          <p:cNvPr id="3" name="Content Placeholder 2">
            <a:extLst>
              <a:ext uri="{FF2B5EF4-FFF2-40B4-BE49-F238E27FC236}">
                <a16:creationId xmlns:a16="http://schemas.microsoft.com/office/drawing/2014/main" id="{FE4F43DB-18D8-AE16-3463-B187A8D196D0}"/>
              </a:ext>
            </a:extLst>
          </p:cNvPr>
          <p:cNvSpPr>
            <a:spLocks noGrp="1"/>
          </p:cNvSpPr>
          <p:nvPr>
            <p:ph idx="1"/>
          </p:nvPr>
        </p:nvSpPr>
        <p:spPr>
          <a:xfrm>
            <a:off x="1109133" y="973667"/>
            <a:ext cx="9770534" cy="5461000"/>
          </a:xfrm>
        </p:spPr>
        <p:txBody>
          <a:bodyPr>
            <a:normAutofit/>
          </a:bodyPr>
          <a:lstStyle/>
          <a:p>
            <a:r>
              <a:rPr lang="en-US" dirty="0"/>
              <a:t>The startup profit dataset was successfully analyzed using Linear Regression and Power BI.</a:t>
            </a:r>
          </a:p>
          <a:p>
            <a:r>
              <a:rPr lang="en-US" dirty="0"/>
              <a:t>The regression model achieved an R² Score of 0.899, indicating good prediction accuracy.</a:t>
            </a:r>
          </a:p>
          <a:p>
            <a:r>
              <a:rPr lang="en-US" dirty="0"/>
              <a:t>R&amp;D Spend has the strongest positive impact on profit.</a:t>
            </a:r>
          </a:p>
          <a:p>
            <a:r>
              <a:rPr lang="en-US" dirty="0"/>
              <a:t>Marketing Spend also contributes to higher profits, while Administration Spend has the least impact.</a:t>
            </a:r>
          </a:p>
          <a:p>
            <a:r>
              <a:rPr lang="en-US" dirty="0"/>
              <a:t>Florida recorded the highest average profit, followed by New York, while California had the lowest average profit.</a:t>
            </a:r>
          </a:p>
          <a:p>
            <a:r>
              <a:rPr lang="en-US" dirty="0"/>
              <a:t>The interactive Power BI dashboard enables quick analysis of spending patterns and profitability across states</a:t>
            </a:r>
          </a:p>
        </p:txBody>
      </p:sp>
    </p:spTree>
    <p:extLst>
      <p:ext uri="{BB962C8B-B14F-4D97-AF65-F5344CB8AC3E}">
        <p14:creationId xmlns:p14="http://schemas.microsoft.com/office/powerpoint/2010/main" val="165113634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81</TotalTime>
  <Words>848</Words>
  <Application>Microsoft Office PowerPoint</Application>
  <PresentationFormat>Widescreen</PresentationFormat>
  <Paragraphs>93</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Agency FB</vt:lpstr>
      <vt:lpstr>Algerian</vt:lpstr>
      <vt:lpstr>Arial</vt:lpstr>
      <vt:lpstr>Arial Black</vt:lpstr>
      <vt:lpstr>Gill Sans MT</vt:lpstr>
      <vt:lpstr>Wingdings</vt:lpstr>
      <vt:lpstr>Parcel</vt:lpstr>
      <vt:lpstr>Startup Profit Analysis</vt:lpstr>
      <vt:lpstr>Problem Statement &amp; Project Objective</vt:lpstr>
      <vt:lpstr>Data Collection &amp; Preprocessing</vt:lpstr>
      <vt:lpstr>Linear Regression Analysis</vt:lpstr>
      <vt:lpstr>Regression Results &amp; Profit Prediction</vt:lpstr>
      <vt:lpstr>PowerPoint Presentation</vt:lpstr>
      <vt:lpstr>Dashboard Insights &amp; Recommendations</vt:lpstr>
      <vt:lpstr>State-wise Dashboard </vt:lpstr>
      <vt:lpstr>Overall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varun gokral</dc:creator>
  <cp:lastModifiedBy>varun gokral</cp:lastModifiedBy>
  <cp:revision>1</cp:revision>
  <dcterms:created xsi:type="dcterms:W3CDTF">2026-06-28T15:22:14Z</dcterms:created>
  <dcterms:modified xsi:type="dcterms:W3CDTF">2026-06-29T13:42:46Z</dcterms:modified>
</cp:coreProperties>
</file>